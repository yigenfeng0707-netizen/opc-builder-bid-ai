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本次参赛选手。今天我带来的作品是“政企投标全栈AI助手”。这个作品旨在解决传统政企投标过程中链路长、材料重、风险高的痛点。通过AI技术，我们将原本需要多人协作、耗时数天的复杂工作，压缩到一人一天内完成，实现了从“手工作坊”到“自动化工厂”的升级。接下来，我将详细介绍我们的解决方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政企投标工作面临着四大痛点。首先，招标文件信息分散，就像大海捞针，耗时耗力且容易出错。其次，多团队并行作业导致版本协同混乱，效率低下。第三，合规风险隐蔽，一个微小的疏忽就可能导致全盘皆输。最后，优秀的经验和方案难以沉淀和复用，导致大量重复劳动。这些痛点严重制约了投标工作的效率和质量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些痛点，我们设计了一套全流程自动化方案。首先，通过AI进行智能解析，快速提取招标文件的核心信息。接着，基于行业模板自动生成方案初稿。然后，系统会自动编排材料，形成结构完整的投标文件。最后，通过闭环自检功能，智能审查风险并提供整改清单。这套流水线将投标工作从“手工作坊”升级为了“自动化工厂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方案能够一次性生成10项完整的投标成果，覆盖了从分析规划、核心应答到支撑保障的全流程。这些成果包括招标解析表、技术方案、合规自检矩阵等，为投标工作提供了全面、系统的交付件，确保了投标过程的完整性和专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方案方面，我们提供了一套完整的、可落地的政务云资源服务架构。这包括高性能的计算资源、安全可靠的存储资源、纵深防御的安全能力以及专业高效的运维保障。这套一体化的方案确保了政务业务的连续性、安全性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合规是投标的生命线。我们的方案建立了一个强大的合规自检闭环。系统会自动识别并将风险分为P0、P1、P2三个等级。P0是致命风险，必须100%满足；P1是严重风险，影响评分；P2是一般风险，影响呈现。通过这种方式，我们将风险前置，确保每一次投标都合规、可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AI模式与传统模式相比，在效率和质量上实现了巨大的飞跃。传统模式依赖人工，效率低下且易出错。而AI模式通过自动化和智能化，将信息处理、内容创作、审查校对和团队协作的效率提升了数倍。最核心的价值在于，它将原本需要4人团队10天完成的工作量，压缩到了1人1天就能完成初稿，真正实现了降本增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我们的作品成功验证了AI在政企投标领域的巨大潜力。它的核心优势在于实现了一人全栈、全链路闭环、合规优先和业务可落地。未来，我们希望将其扩展为企业级的投标知识中台，最终目标是打造一个可复制、可审计、可持续进化的投标生产中台，为企业构建真正的组织级投标能力。我的介绍到此结束，感谢各位评委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tags" Target="../tags/tag2.xml"/><Relationship Id="rId27" Type="http://schemas.openxmlformats.org/officeDocument/2006/relationships/notesSlide" Target="../notesSlides/notesSlide2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image" Target="../media/image16.svg"/><Relationship Id="rId22" Type="http://schemas.openxmlformats.org/officeDocument/2006/relationships/image" Target="../media/image15.png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14.svg"/><Relationship Id="rId16" Type="http://schemas.openxmlformats.org/officeDocument/2006/relationships/image" Target="../media/image13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1" Type="http://schemas.openxmlformats.org/officeDocument/2006/relationships/notesSlide" Target="../notesSlides/notesSlide3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18.xml"/><Relationship Id="rId29" Type="http://schemas.openxmlformats.org/officeDocument/2006/relationships/tags" Target="../tags/tag36.xml"/><Relationship Id="rId28" Type="http://schemas.openxmlformats.org/officeDocument/2006/relationships/tags" Target="../tags/tag35.xml"/><Relationship Id="rId27" Type="http://schemas.openxmlformats.org/officeDocument/2006/relationships/tags" Target="../tags/tag34.xml"/><Relationship Id="rId26" Type="http://schemas.openxmlformats.org/officeDocument/2006/relationships/image" Target="../media/image20.svg"/><Relationship Id="rId25" Type="http://schemas.openxmlformats.org/officeDocument/2006/relationships/image" Target="../media/image19.png"/><Relationship Id="rId24" Type="http://schemas.openxmlformats.org/officeDocument/2006/relationships/tags" Target="../tags/tag33.xml"/><Relationship Id="rId23" Type="http://schemas.openxmlformats.org/officeDocument/2006/relationships/tags" Target="../tags/tag32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7.xml"/><Relationship Id="rId19" Type="http://schemas.openxmlformats.org/officeDocument/2006/relationships/image" Target="../media/image18.svg"/><Relationship Id="rId18" Type="http://schemas.openxmlformats.org/officeDocument/2006/relationships/image" Target="../media/image17.png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image" Target="../media/image3.svg"/><Relationship Id="rId11" Type="http://schemas.openxmlformats.org/officeDocument/2006/relationships/image" Target="../media/image2.png"/><Relationship Id="rId10" Type="http://schemas.openxmlformats.org/officeDocument/2006/relationships/tags" Target="../tags/tag23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0.svg"/><Relationship Id="rId6" Type="http://schemas.openxmlformats.org/officeDocument/2006/relationships/image" Target="../media/image19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jpeg"/><Relationship Id="rId7" Type="http://schemas.openxmlformats.org/officeDocument/2006/relationships/image" Target="../media/image30.svg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3.svg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45.svg"/><Relationship Id="rId6" Type="http://schemas.openxmlformats.org/officeDocument/2006/relationships/image" Target="../media/image44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svg"/><Relationship Id="rId8" Type="http://schemas.openxmlformats.org/officeDocument/2006/relationships/image" Target="../media/image53.png"/><Relationship Id="rId7" Type="http://schemas.openxmlformats.org/officeDocument/2006/relationships/image" Target="../media/image52.svg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1" Type="http://schemas.openxmlformats.org/officeDocument/2006/relationships/notesSlide" Target="../notesSlides/notesSlide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4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OPC Builder 参赛作品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79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政企投标全栈 AI 助手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93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一人全栈完成云资源服务投标闭环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6D1D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5334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52705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产品特性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通用行业模板 ｜ 脱敏演示 ｜ 贴合政企真实业务场景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6D1D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5334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080000" y="52705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核心功能覆盖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招标解析 · 商务应答 · 技术方案 · 业绩佐证 · 合规自检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128000" y="5080000"/>
            <a:ext cx="3302000" cy="1397000"/>
          </a:xfrm>
          <a:prstGeom prst="roundRect">
            <a:avLst>
              <a:gd name="adj" fmla="val 7272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6D1D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5334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5270500"/>
            <a:ext cx="247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价值目标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把复杂投标流程变成可管理、可审查、可复用的自动化生产线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项目痛点：政企投标链路长、材料重、风险高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传统投标高度依赖人工经验，效率与质量瓶颈凸显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000000">
              <a:alpha val="80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51000" y="2730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889000" y="3683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大海捞针，耗时耗力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952500" y="4445000"/>
            <a:ext cx="228790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招标文件动辄数百页，关键信息散落各处，需花费1-2天手动提炼，极易造成关键信息遗漏。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3492500" y="2413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000000">
              <a:alpha val="80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1500" y="27305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3532505" y="3683000"/>
            <a:ext cx="230949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作坊式生产，版本混乱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3683000" y="4445000"/>
            <a:ext cx="228790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多团队并行作业，文件版本多达数十个，缺乏统一管理，极易导致封装时使用错误版本。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6223000" y="2413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000000">
              <a:alpha val="80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12000" y="27305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6350000" y="3683000"/>
            <a:ext cx="222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一步错，满盘皆输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6413500" y="4445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超过30%的失败源于合规问题，废标条款往往十分隐蔽，仅靠人工审查难以实现100%覆盖。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8953500" y="2413000"/>
            <a:ext cx="2476500" cy="3556000"/>
          </a:xfrm>
          <a:prstGeom prst="roundRect">
            <a:avLst>
              <a:gd name="adj" fmla="val 6153"/>
            </a:avLst>
          </a:prstGeom>
          <a:solidFill>
            <a:srgbClr val="000000">
              <a:alpha val="80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842500" y="27305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8952865" y="3683000"/>
            <a:ext cx="2350135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重复造轮子，经验流失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9144000" y="4445000"/>
            <a:ext cx="2095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优秀的方案和投标经验随项目结束而流失，新项目团队往往需要从零开始，无法有效形成企业级的组织资产。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全流程自动化方案：从PDF解析到投标文件生成的AI流水线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让投标从“手工作坊”升级为“自动化工厂”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413000"/>
            <a:ext cx="2540000" cy="3937000"/>
          </a:xfrm>
          <a:prstGeom prst="roundRect">
            <a:avLst>
              <a:gd name="adj" fmla="val 60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7200" y="27305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889000" y="361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智能解析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333500" y="4318000"/>
            <a:ext cx="1397000" cy="38100"/>
          </a:xfrm>
          <a:prstGeom prst="roundRect">
            <a:avLst>
              <a:gd name="adj" fmla="val 0"/>
            </a:avLst>
          </a:prstGeom>
          <a:solidFill>
            <a:srgbClr val="36D1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762000" y="4699000"/>
            <a:ext cx="247523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AI驱动的招标文件“精读”，自动抽取关键信息、资质要求、评分标准和废标红线，避免遗漏。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9"/>
            </p:custDataLst>
          </p:nvPr>
        </p:nvSpPr>
        <p:spPr>
          <a:xfrm>
            <a:off x="3492500" y="2413000"/>
            <a:ext cx="2540000" cy="3937000"/>
          </a:xfrm>
          <a:prstGeom prst="roundRect">
            <a:avLst>
              <a:gd name="adj" fmla="val 60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457700" y="27305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3619500" y="361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方案生成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4064000" y="4318000"/>
            <a:ext cx="1397000" cy="38100"/>
          </a:xfrm>
          <a:prstGeom prst="roundRect">
            <a:avLst>
              <a:gd name="adj" fmla="val 0"/>
            </a:avLst>
          </a:prstGeom>
          <a:solidFill>
            <a:srgbClr val="36D1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5"/>
            </p:custDataLst>
          </p:nvPr>
        </p:nvSpPr>
        <p:spPr>
          <a:xfrm>
            <a:off x="3522345" y="4699000"/>
            <a:ext cx="249682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基于行业模板快速应答，自动生成商务、技术方案初稿，大幅缩短起草周期，用户只需微调即可。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6"/>
            </p:custDataLst>
          </p:nvPr>
        </p:nvSpPr>
        <p:spPr>
          <a:xfrm>
            <a:off x="6223000" y="2413000"/>
            <a:ext cx="2540000" cy="3937000"/>
          </a:xfrm>
          <a:prstGeom prst="roundRect">
            <a:avLst>
              <a:gd name="adj" fmla="val 60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188200" y="2730500"/>
            <a:ext cx="609600" cy="6096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6350000" y="361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材料编排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1"/>
            </p:custDataLst>
          </p:nvPr>
        </p:nvSpPr>
        <p:spPr>
          <a:xfrm>
            <a:off x="6794500" y="4318000"/>
            <a:ext cx="1397000" cy="38100"/>
          </a:xfrm>
          <a:prstGeom prst="roundRect">
            <a:avLst>
              <a:gd name="adj" fmla="val 0"/>
            </a:avLst>
          </a:prstGeom>
          <a:solidFill>
            <a:srgbClr val="36D1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>
            <p:custDataLst>
              <p:tags r:id="rId22"/>
            </p:custDataLst>
          </p:nvPr>
        </p:nvSpPr>
        <p:spPr>
          <a:xfrm>
            <a:off x="6223000" y="4699000"/>
            <a:ext cx="257175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结构化的投标文件“组装”，自动生成标准目录、整合各部分内容、统一全文档的字体与排版格式。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3"/>
            </p:custDataLst>
          </p:nvPr>
        </p:nvSpPr>
        <p:spPr>
          <a:xfrm>
            <a:off x="8890000" y="2413000"/>
            <a:ext cx="2540000" cy="3937000"/>
          </a:xfrm>
          <a:prstGeom prst="roundRect">
            <a:avLst>
              <a:gd name="adj" fmla="val 600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36D1D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855200" y="27305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>
            <p:custDataLst>
              <p:tags r:id="rId27"/>
            </p:custDataLst>
          </p:nvPr>
        </p:nvSpPr>
        <p:spPr>
          <a:xfrm>
            <a:off x="9017000" y="36195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闭环自检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28"/>
            </p:custDataLst>
          </p:nvPr>
        </p:nvSpPr>
        <p:spPr>
          <a:xfrm>
            <a:off x="9461500" y="4318000"/>
            <a:ext cx="1397000" cy="38100"/>
          </a:xfrm>
          <a:prstGeom prst="roundRect">
            <a:avLst>
              <a:gd name="adj" fmla="val 0"/>
            </a:avLst>
          </a:prstGeom>
          <a:solidFill>
            <a:srgbClr val="36D1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>
            <p:custDataLst>
              <p:tags r:id="rId29"/>
            </p:custDataLst>
          </p:nvPr>
        </p:nvSpPr>
        <p:spPr>
          <a:xfrm>
            <a:off x="8890000" y="4699000"/>
            <a:ext cx="259969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以风险为导向的智能审查，自动扫描文档中存在的废标风险、错漏项，进行风险定级并提供整改建议。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核心成果展示：一次生成10项完整投标成果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覆盖从响应到审查的完整交付件，全方位构建投标优势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6D1DC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794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01800" y="2768600"/>
            <a:ext cx="203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分析与规划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招标解析表与废标资质清单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详细评分标准分析明细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技术/商务关键参数映射表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2413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6D1DC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2794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84800" y="2768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核心应答与方案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683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商务条款全要素应答文件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差异化报价策略与建议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服务承诺函与政务云技术方案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2413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6D1DC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2794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067800" y="2768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支撑与保障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683000"/>
            <a:ext cx="2794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项目实施全周期甘特图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类似业绩与资质佐证模板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合规自检矩阵与风险整改清单</a:t>
            </a:r>
            <a:endParaRPr lang="en-US" sz="14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技术方案亮点：政务云资源服务的可落地架构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云计算 · 云存储 · 云安全 · 云运维一体化解决方案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86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6D1D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501900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2413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高性能计算资源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配置≥16核CPU、≥64GB内存，支持分钟级弹性伸缩，轻松应对业务波峰波谷，满足多样化政务应用需求。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556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6D1D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771900"/>
            <a:ext cx="635000" cy="635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78000" y="3683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高可靠存储资源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提供≥100TB对象存储，采用多副本冗余机制保障数据持久性，兼容S3标准接口，实现海量数据低成本高效管理。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5207000" cy="1079500"/>
          </a:xfrm>
          <a:prstGeom prst="roundRect">
            <a:avLst>
              <a:gd name="adj" fmla="val 9411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36D1D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50419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78000" y="4953000"/>
            <a:ext cx="393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全方位安全能力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集成WAF、入侵检测、漏洞扫描等组件，定期输出年度安全评估报告，构建“事前防御、事中监测、事后溯源”的纵深防御体系。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 t="2561" b="2561"/>
          <a:stretch>
            <a:fillRect/>
          </a:stretch>
        </p:blipFill>
        <p:spPr>
          <a:xfrm>
            <a:off x="6350000" y="2286000"/>
            <a:ext cx="5080000" cy="2540000"/>
          </a:xfrm>
          <a:prstGeom prst="roundRect">
            <a:avLst>
              <a:gd name="adj" fmla="val 6000"/>
            </a:avLst>
          </a:prstGeom>
          <a:noFill/>
          <a:ln w="25400" cap="flat" cmpd="sng">
            <a:solidFill>
              <a:srgbClr val="36D1DC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5" name="AutoShape 15"/>
          <p:cNvSpPr/>
          <p:nvPr/>
        </p:nvSpPr>
        <p:spPr>
          <a:xfrm>
            <a:off x="6350000" y="5080000"/>
            <a:ext cx="5080000" cy="1143000"/>
          </a:xfrm>
          <a:prstGeom prst="roundRect">
            <a:avLst>
              <a:gd name="adj" fmla="val 8888"/>
            </a:avLst>
          </a:prstGeom>
          <a:solidFill>
            <a:srgbClr val="1F2937">
              <a:alpha val="90000"/>
            </a:srgbClr>
          </a:solidFill>
          <a:ln w="12700" cap="flat" cmpd="sng">
            <a:solidFill>
              <a:srgbClr val="36D1D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40500" y="5308600"/>
            <a:ext cx="685800" cy="685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29500" y="5232400"/>
            <a:ext cx="381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7×24小时专业运维保障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建立完善的故障响应机制，故障响应时间≤1小时，并针对重大事项建立闭环复盘，确保政务业务连续稳定运行。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合规自检闭环：以废标红线为底线，以评分标准为牵引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把风险前置到提交之前，让每一次投标都心中有数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3683000"/>
          </a:xfrm>
          <a:prstGeom prst="roundRect">
            <a:avLst>
              <a:gd name="adj" fmla="val 3076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E53E3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794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87500" y="2743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53E3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P0 致命风险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必过项 / 废标红线 · 一票否决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810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独立法人资格证明文件完整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具备项目要求的所有核心资质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投标保证金足额、按时缴纳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投标报价未超过预算上限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非联合体投标声明（如需）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2413000"/>
            <a:ext cx="3302000" cy="3683000"/>
          </a:xfrm>
          <a:prstGeom prst="roundRect">
            <a:avLst>
              <a:gd name="adj" fmla="val 3076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445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DD6B2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794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70500" y="2743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DD6B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P1 严重风险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提分项 / 评分关键 · 严重扣分项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699000" y="3810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提供符合要求的类似项目业绩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技术方案对招标要求无负偏离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售后服务承诺清晰且可量化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关键人员授权书及身份证明齐全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偏离表无遗漏或描述不当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302000" cy="3683000"/>
          </a:xfrm>
          <a:prstGeom prst="roundRect">
            <a:avLst>
              <a:gd name="adj" fmla="val 3076"/>
            </a:avLst>
          </a:prstGeom>
          <a:solidFill>
            <a:srgbClr val="1F2937">
              <a:alpha val="92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128000" y="2413000"/>
            <a:ext cx="3302000" cy="76200"/>
          </a:xfrm>
          <a:prstGeom prst="roundRect">
            <a:avLst>
              <a:gd name="adj" fmla="val 0"/>
            </a:avLst>
          </a:prstGeom>
          <a:solidFill>
            <a:srgbClr val="FBBF2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794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953500" y="2743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P2 一般风险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呈现项 / 呈现细节 · 专家印象分</a:t>
            </a:r>
            <a:endParaRPr lang="en-US" sz="13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8382000" y="3810000"/>
            <a:ext cx="2794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目录层级清晰，关键内容有索引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投标文件页码连续且签章齐全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评分点与证明材料有效绑定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文本排版规范，评审阅读友好</a:t>
            </a:r>
            <a:b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文档格式符合招标方要求(PDF等)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效率价值对比：一人全栈驱动，多角色协同结果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从数天压缩到小时级初稿，实现降本增效与质量提升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1E293B">
              <a:alpha val="85000"/>
            </a:srgbClr>
          </a:solidFill>
          <a:ln w="12700" cap="flat" cmpd="sng">
            <a:solidFill>
              <a:srgbClr val="4B556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6670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 (手工作坊)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429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人工阅读、手动提炼，耗时费力且容易遗漏关键信息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分工起草、重复撰写，团队协作存在大量重复工作</a:t>
            </a:r>
            <a:endParaRPr lang="en-US" sz="1400" b="0" i="0" u="none" strike="noStrike">
              <a:solidFill>
                <a:srgbClr val="D1D5D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人工交叉审查、靠经验查错，难以规避系统性风险</a:t>
            </a:r>
            <a:endParaRPr lang="en-US" sz="1400" b="0" i="0" u="none" strike="noStrike">
              <a:solidFill>
                <a:srgbClr val="D1D5D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D1D5D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邮件/IM沟通、信息不同步，版本管理混乱效率低</a:t>
            </a:r>
            <a:endParaRPr lang="en-US" sz="1400" b="0" i="0" u="none" strike="noStrike">
              <a:solidFill>
                <a:srgbClr val="D1D5D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2413000"/>
            <a:ext cx="5207000" cy="2667000"/>
          </a:xfrm>
          <a:prstGeom prst="roundRect">
            <a:avLst>
              <a:gd name="adj" fmla="val 0"/>
            </a:avLst>
          </a:prstGeom>
          <a:solidFill>
            <a:srgbClr val="1E293B">
              <a:alpha val="95000"/>
            </a:srgbClr>
          </a:solidFill>
          <a:ln w="25400" cap="flat" cmpd="sng">
            <a:solidFill>
              <a:srgbClr val="36D1DC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667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2667000"/>
            <a:ext cx="406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模式 (自动化工厂)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429000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自动抽取、智能分析：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秒级处理海量数据，精准提炼核心要点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自动生成、模板复用：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标准化内容产出，大幅降低重复劳动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自动对照、风险扫描：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全流程合规性检测，消除人为疏漏隐患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33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4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在线协同、进度透明：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云端实时协作，项目进度与版本可追溯</a:t>
            </a:r>
            <a:endParaRPr lang="en-US" sz="14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36D1DC">
              <a:alpha val="10000"/>
            </a:srgbClr>
          </a:solidFill>
          <a:ln w="12700" cap="flat" cmpd="sng">
            <a:solidFill>
              <a:srgbClr val="36D1DC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5715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905000" y="5651500"/>
            <a:ext cx="914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效率提升：将传统</a:t>
            </a:r>
            <a:r>
              <a:rPr lang="en-US" sz="24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4人团队10天</a:t>
            </a: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的工作量，压缩至</a:t>
            </a:r>
            <a:r>
              <a:rPr lang="en-US" sz="2400" b="1" i="0" u="none" strike="noStrike">
                <a:solidFill>
                  <a:srgbClr val="36D1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1人1天</a:t>
            </a:r>
            <a:r>
              <a:rPr lang="en-US" sz="2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完成初稿。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01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总结展望：沉淀可复用的政企投标AI方法论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203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从单项目提效走向组织级投标能力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3048000"/>
            <a:ext cx="2667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6D1DC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330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06500" y="32766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能力验证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AI已可覆盖真实政企投标的全流程核心业务链路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29000" y="3048000"/>
            <a:ext cx="2667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6D1DC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19500" y="330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27500" y="32766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一人全栈 · 全链路闭环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合规优先 · 业务可落地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350000" y="3048000"/>
            <a:ext cx="2667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6D1DC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40500" y="330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048500" y="32766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未来扩展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从单点工具向企业级投标知识中台升级，沉淀资产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271000" y="3048000"/>
            <a:ext cx="2667000" cy="1778000"/>
          </a:xfrm>
          <a:prstGeom prst="roundRect">
            <a:avLst>
              <a:gd name="adj" fmla="val 5714"/>
            </a:avLst>
          </a:prstGeom>
          <a:solidFill>
            <a:srgbClr val="1E293B">
              <a:alpha val="90000"/>
            </a:srgbClr>
          </a:solidFill>
          <a:ln w="12700" cap="flat" cmpd="sng">
            <a:solidFill>
              <a:srgbClr val="36D1DC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61500" y="3302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969500" y="32766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打造“可复制、可审计、可持续进化”的投标生产中台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0" y="5461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BBF2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2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3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4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5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6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7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8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9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0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1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2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3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4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5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6.xml><?xml version="1.0" encoding="utf-8"?>
<p:tagLst xmlns:p="http://schemas.openxmlformats.org/presentationml/2006/main">
  <p:tag name="KSO_WM_DIAGRAM_VIRTUALLY_FRAME" val="{&quot;height&quot;:280,&quot;left&quot;:60,&quot;top&quot;:190,&quot;width&quot;:840}"/>
</p:tagLst>
</file>

<file path=ppt/tags/tag17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18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19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0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1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2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3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4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5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6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7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8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29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30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31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32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33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34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35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ags/tag36.xml><?xml version="1.0" encoding="utf-8"?>
<p:tagLst xmlns:p="http://schemas.openxmlformats.org/presentationml/2006/main">
  <p:tag name="KSO_WM_DIAGRAM_VIRTUALLY_FRAME" val="{&quot;height&quot;:310,&quot;left&quot;:60,&quot;top&quot;:190,&quot;width&quot;:844.7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1940</Words>
  <Application>WPS 演示</Application>
  <PresentationFormat/>
  <Paragraphs>147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冯亦根</cp:lastModifiedBy>
  <cp:revision>2</cp:revision>
  <dcterms:created xsi:type="dcterms:W3CDTF">2026-05-25T14:42:45Z</dcterms:created>
  <dcterms:modified xsi:type="dcterms:W3CDTF">2026-05-25T14:44:18Z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{"Label":"1","ContentProducer":"001191110102MACQD9K64010000","ProduceID":"7643838671762394082","ReservedCode1":"","ContentPropagator":"","PropagateID":"","ReservedCode2":""}</vt:lpwstr>
  </property>
  <property fmtid="{D5CDD505-2E9C-101B-9397-08002B2CF9AE}" pid="3" name="ICV">
    <vt:lpwstr>0F4B74A6FDF44C88991800C1C4431413_12</vt:lpwstr>
  </property>
  <property fmtid="{D5CDD505-2E9C-101B-9397-08002B2CF9AE}" pid="4" name="KSOProductBuildVer">
    <vt:lpwstr>2052-12.1.0.26375</vt:lpwstr>
  </property>
</Properties>
</file>